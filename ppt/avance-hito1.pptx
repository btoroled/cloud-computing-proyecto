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730D"/>
                </a:solidFill>
                <a:latin typeface="Calibri"/>
              </a:rPr>
              <a:t>CS2032 · CLOUD COMPUTING · 2026-2 · UTEC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Sistema de Microservicios del</a:t>
            </a:r>
          </a:p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Aeropuerto Internacional Jorge Chávez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7D2DE"/>
                </a:solidFill>
                <a:latin typeface="Calibri"/>
              </a:rPr>
              <a:t>Hito 1 — Exposición virtual con ACL · Avance ≥ 50% por parte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33404D"/>
          </a:solidFill>
          <a:ln w="9525">
            <a:solidFill>
              <a:srgbClr val="445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Benja — Líder / Arquitectura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297680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33404D"/>
          </a:solidFill>
          <a:ln w="9525">
            <a:solidFill>
              <a:srgbClr val="445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Guillermo — MS1 Pasajeros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297680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33404D"/>
          </a:solidFill>
          <a:ln w="9525">
            <a:solidFill>
              <a:srgbClr val="445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Mariano — MS2 Vuelos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01184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33404D"/>
          </a:solidFill>
          <a:ln w="9525">
            <a:solidFill>
              <a:srgbClr val="445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Edinson — MS3 Infraestructura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901184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33404D"/>
          </a:solidFill>
          <a:ln w="9525">
            <a:solidFill>
              <a:srgbClr val="445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Fabricio — MS4/MS5 + Data Science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901184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33404D"/>
          </a:solidFill>
          <a:ln w="9525">
            <a:solidFill>
              <a:srgbClr val="445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Alexander —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2B1"/>
                </a:solidFill>
                <a:latin typeface="Calibri"/>
              </a:rPr>
              <a:t>Grupo Cloud-MLA · github.com/Cloud-MLA · 12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30D"/>
                </a:solidFill>
                <a:latin typeface="Calibri"/>
              </a:rPr>
              <a:t>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32F3E"/>
                </a:solidFill>
                <a:latin typeface="Calibri"/>
              </a:rPr>
              <a:t>Objetivo y alcance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6A79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6212E"/>
                </a:solidFill>
                <a:latin typeface="Calibri"/>
              </a:rPr>
              <a:t>Modernizar el sistema monolítico de operaciones del aeropuerto en una arquitectura de microservicios en AWS, con frontend web, ingesta de datos y analítica gestionada.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532120" cy="384048"/>
          </a:xfrm>
          <a:prstGeom prst="roundRect">
            <a:avLst>
              <a:gd name="adj" fmla="val 15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Distribución de la nota (20 pts totales)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00" b="0" i="0">
                <a:solidFill>
                  <a:srgbClr val="16212E"/>
                </a:solidFill>
                <a:latin typeface="Calibri"/>
              </a:rPr>
              <a:t>Backend — 5 microservicios en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20" y="1828800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5C6A79"/>
                </a:solidFill>
                <a:latin typeface="Calibri"/>
              </a:rPr>
              <a:t>7 pts · H2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304288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00" b="0" i="0">
                <a:solidFill>
                  <a:srgbClr val="16212E"/>
                </a:solidFill>
                <a:latin typeface="Calibri"/>
              </a:rPr>
              <a:t>Frontend — Web (Amplify)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2304288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5C6A79"/>
                </a:solidFill>
                <a:latin typeface="Calibri"/>
              </a:rPr>
              <a:t>3 pts · H2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779776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00" b="0" i="0">
                <a:solidFill>
                  <a:srgbClr val="16212E"/>
                </a:solidFill>
                <a:latin typeface="Calibri"/>
              </a:rPr>
              <a:t>Data Science — Analytics (S3 · Glue · Athena)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779776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5C6A79"/>
                </a:solidFill>
                <a:latin typeface="Calibri"/>
              </a:rPr>
              <a:t>5 pts · H2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55264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00" b="0" i="0">
                <a:solidFill>
                  <a:srgbClr val="16212E"/>
                </a:solidFill>
                <a:latin typeface="Calibri"/>
              </a:rPr>
              <a:t>Diagrama de arquitectura de solución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3255264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5C6A79"/>
                </a:solidFill>
                <a:latin typeface="Calibri"/>
              </a:rPr>
              <a:t>1 pt · H2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30752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00" b="0" i="0">
                <a:solidFill>
                  <a:srgbClr val="16212E"/>
                </a:solidFill>
                <a:latin typeface="Calibri"/>
              </a:rPr>
              <a:t>Exposición presencial + demo (Sem. 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04120" y="3730752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5C6A79"/>
                </a:solidFill>
                <a:latin typeface="Calibri"/>
              </a:rPr>
              <a:t>1 pt · Sem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206240"/>
            <a:ext cx="5532120" cy="420624"/>
          </a:xfrm>
          <a:prstGeom prst="roundRect">
            <a:avLst>
              <a:gd name="adj" fmla="val 12000"/>
            </a:avLst>
          </a:prstGeom>
          <a:solidFill>
            <a:srgbClr val="FBE9D6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wrap="square"/>
          <a:lstStyle/>
          <a:p>
            <a:pPr algn="l"/>
            <a:r>
              <a:rPr sz="1200" b="1" i="0">
                <a:solidFill>
                  <a:srgbClr val="16212E"/>
                </a:solidFill>
                <a:latin typeface="Calibri"/>
              </a:rPr>
              <a:t>Exposición virtual con ACL — avance ≥50%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4206240"/>
            <a:ext cx="1463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D9730D"/>
                </a:solidFill>
                <a:latin typeface="Calibri"/>
              </a:rPr>
              <a:t>3 pts · H1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0632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  <a:latin typeface="Calibri"/>
              </a:rPr>
              <a:t>Requisitos técnicos clave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74720"/>
            <a:ext cx="53949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300" b="0" i="0">
                <a:solidFill>
                  <a:srgbClr val="16212E"/>
                </a:solidFill>
                <a:latin typeface="Calibri"/>
              </a:rPr>
              <a:t>3 lenguajes + 3 bases de datos distintas (2 SQL + 1 NoSQL)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300" b="0" i="0">
                <a:solidFill>
                  <a:srgbClr val="16212E"/>
                </a:solidFill>
                <a:latin typeface="Calibri"/>
              </a:rPr>
              <a:t>1 microservicio consume a otro · 1 sin BD · 1 analítico con Athena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300" b="0" i="0">
                <a:solidFill>
                  <a:srgbClr val="16212E"/>
                </a:solidFill>
                <a:latin typeface="Calibri"/>
              </a:rPr>
              <a:t>Carga masiva ≥20 000 registros por BD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300" b="0" i="0">
                <a:solidFill>
                  <a:srgbClr val="16212E"/>
                </a:solidFill>
                <a:latin typeface="Calibri"/>
              </a:rPr>
              <a:t>2 VMs de producción + balanceador privado + API Gateway HTTPS</a:t>
            </a:r>
          </a:p>
          <a:p>
            <a:pPr algn="l">
              <a:spcAft>
                <a:spcPts val="0"/>
              </a:spcAft>
              <a:buFont typeface="Calibri"/>
              <a:buChar char="—"/>
            </a:pPr>
            <a:r>
              <a:rPr sz="1300" b="0" i="0">
                <a:solidFill>
                  <a:srgbClr val="16212E"/>
                </a:solidFill>
                <a:latin typeface="Calibri"/>
              </a:rPr>
              <a:t>Frontend en Amplify consumiendo los 5 microservicios (≥2 métodos c/u)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30D"/>
                </a:solidFill>
                <a:latin typeface="Calibri"/>
              </a:rPr>
              <a:t>ARQUITECTURA DE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32F3E"/>
                </a:solidFill>
                <a:latin typeface="Calibri"/>
              </a:rPr>
              <a:t>AWS · VPC con borde privado y analítica gestionada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6A79"/>
                </a:solidFill>
                <a:latin typeface="Calibri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554480" cy="658368"/>
          </a:xfrm>
          <a:prstGeom prst="roundRect">
            <a:avLst>
              <a:gd name="adj" fmla="val 18000"/>
            </a:avLst>
          </a:prstGeom>
          <a:solidFill>
            <a:srgbClr val="8A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417320"/>
            <a:ext cx="1737360" cy="658368"/>
          </a:xfrm>
          <a:prstGeom prst="roundRect">
            <a:avLst>
              <a:gd name="adj" fmla="val 18000"/>
            </a:avLst>
          </a:prstGeom>
          <a:solidFill>
            <a:srgbClr val="DD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AWS Amplify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Frontend 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1920240" cy="658368"/>
          </a:xfrm>
          <a:prstGeom prst="roundRect">
            <a:avLst>
              <a:gd name="adj" fmla="val 18000"/>
            </a:avLst>
          </a:prstGeom>
          <a:solidFill>
            <a:srgbClr val="E715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API Gateway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+ VPC Link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417320"/>
            <a:ext cx="1737360" cy="658368"/>
          </a:xfrm>
          <a:prstGeom prst="roundRect">
            <a:avLst>
              <a:gd name="adj" fmla="val 18000"/>
            </a:avLst>
          </a:prstGeom>
          <a:solidFill>
            <a:srgbClr val="654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ALB interno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balanceador privado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417320"/>
            <a:ext cx="1828800" cy="658368"/>
          </a:xfrm>
          <a:prstGeom prst="roundRect">
            <a:avLst>
              <a:gd name="adj" fmla="val 18000"/>
            </a:avLst>
          </a:prstGeom>
          <a:solidFill>
            <a:srgbClr val="242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GHCR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imágenes Docker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1746504"/>
            <a:ext cx="36576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60520" y="1746504"/>
            <a:ext cx="36576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46520" y="1746504"/>
            <a:ext cx="365760" cy="0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34640" y="2459736"/>
            <a:ext cx="2286000" cy="658368"/>
          </a:xfrm>
          <a:prstGeom prst="roundRect">
            <a:avLst>
              <a:gd name="adj" fmla="val 18000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VM-PROD-1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nginx + MS1..MS5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2459736"/>
            <a:ext cx="2286000" cy="658368"/>
          </a:xfrm>
          <a:prstGeom prst="roundRect">
            <a:avLst>
              <a:gd name="adj" fmla="val 18000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VM-PROD-2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nginx + MS1..MS5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459736"/>
            <a:ext cx="2286000" cy="658368"/>
          </a:xfrm>
          <a:prstGeom prst="roundRect">
            <a:avLst>
              <a:gd name="adj" fmla="val 18000"/>
            </a:avLst>
          </a:prstGeom>
          <a:solidFill>
            <a:srgbClr val="527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VM-DB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MySQL · PostgreSQL · MongoDB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977640" y="2075688"/>
            <a:ext cx="3703320" cy="384048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400800" y="2075688"/>
            <a:ext cx="1280160" cy="384048"/>
          </a:xfrm>
          <a:prstGeom prst="line">
            <a:avLst/>
          </a:prstGeom>
          <a:ln w="22225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20640" y="2788920"/>
            <a:ext cx="2560320" cy="0"/>
          </a:xfrm>
          <a:prstGeom prst="line">
            <a:avLst/>
          </a:prstGeom>
          <a:ln w="19050">
            <a:solidFill>
              <a:srgbClr val="0C8F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543800" y="2505456"/>
            <a:ext cx="137160" cy="283464"/>
          </a:xfrm>
          <a:prstGeom prst="line">
            <a:avLst/>
          </a:prstGeom>
          <a:ln w="19050">
            <a:solidFill>
              <a:srgbClr val="0C8F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34640" y="3502152"/>
            <a:ext cx="2286000" cy="658368"/>
          </a:xfrm>
          <a:prstGeom prst="roundRect">
            <a:avLst>
              <a:gd name="adj" fmla="val 18000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VM-INGESTA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3 contenedores batch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3502152"/>
            <a:ext cx="1554480" cy="658368"/>
          </a:xfrm>
          <a:prstGeom prst="roundRect">
            <a:avLst>
              <a:gd name="adj" fmla="val 18000"/>
            </a:avLst>
          </a:prstGeom>
          <a:solidFill>
            <a:srgbClr val="3F8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Amazon S3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data lake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502152"/>
            <a:ext cx="1554480" cy="658368"/>
          </a:xfrm>
          <a:prstGeom prst="roundRect">
            <a:avLst>
              <a:gd name="adj" fmla="val 18000"/>
            </a:avLst>
          </a:prstGeom>
          <a:solidFill>
            <a:srgbClr val="C92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AWS Glue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catálogo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3502152"/>
            <a:ext cx="1737360" cy="658368"/>
          </a:xfrm>
          <a:prstGeom prst="roundRect">
            <a:avLst>
              <a:gd name="adj" fmla="val 18000"/>
            </a:avLst>
          </a:prstGeom>
          <a:solidFill>
            <a:srgbClr val="C92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 wrap="square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Athena</a:t>
            </a:r>
          </a:p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consultas + vistas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120640" y="3118104"/>
            <a:ext cx="3703320" cy="429768"/>
          </a:xfrm>
          <a:prstGeom prst="line">
            <a:avLst/>
          </a:prstGeom>
          <a:ln w="15875">
            <a:solidFill>
              <a:srgbClr val="0C8F6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20640" y="3831336"/>
            <a:ext cx="137160" cy="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12280" y="3831336"/>
            <a:ext cx="91440" cy="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58200" y="3831336"/>
            <a:ext cx="91440" cy="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6949440" y="3118104"/>
            <a:ext cx="2468880" cy="384048"/>
          </a:xfrm>
          <a:prstGeom prst="line">
            <a:avLst/>
          </a:prstGeom>
          <a:ln w="15875">
            <a:solidFill>
              <a:srgbClr val="7C3AE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A79"/>
                </a:solidFill>
                <a:latin typeface="Calibri"/>
              </a:rPr>
              <a:t>1 VPC · 10.0.0.0/16 · 2 AZ · 4 EC2 (3× t3.small + 1× t3.medium) · 5 Security Groups · SSM + CloudWatch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30D"/>
                </a:solidFill>
                <a:latin typeface="Calibri"/>
              </a:rP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32F3E"/>
                </a:solidFill>
                <a:latin typeface="Calibri"/>
              </a:rPr>
              <a:t>5 microservicios — estado de avance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6A79"/>
                </a:solidFill>
                <a:latin typeface="Calibri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09960" cy="36576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17320"/>
            <a:ext cx="31363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Microservicio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1417320"/>
            <a:ext cx="22219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0488" y="1417320"/>
            <a:ext cx="240487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Base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1417320"/>
            <a:ext cx="290779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Estado (Hito 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837944"/>
            <a:ext cx="1110996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837944"/>
            <a:ext cx="30632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12E"/>
                </a:solidFill>
                <a:latin typeface="Calibri"/>
              </a:rPr>
              <a:t>MS1 · Pasajeros / Tickets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1837944"/>
            <a:ext cx="2148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A79"/>
                </a:solidFill>
                <a:latin typeface="Calibri"/>
              </a:rPr>
              <a:t>Python ·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1837944"/>
            <a:ext cx="23317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A79"/>
                </a:solidFill>
                <a:latin typeface="Calibri"/>
              </a:rPr>
              <a:t>MySQL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05088" y="18928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0C8F63"/>
                </a:solidFill>
                <a:latin typeface="Calibri"/>
              </a:rPr>
              <a:t>✓ Funcionando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2221992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C6A79"/>
                </a:solidFill>
                <a:latin typeface="Calibri"/>
              </a:rPr>
              <a:t>CRUD + 20k registros cargados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24328"/>
            <a:ext cx="1110996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2624328"/>
            <a:ext cx="30632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12E"/>
                </a:solidFill>
                <a:latin typeface="Calibri"/>
              </a:rPr>
              <a:t>MS2 · Vuelos / Operaciones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624328"/>
            <a:ext cx="2148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A79"/>
                </a:solidFill>
                <a:latin typeface="Calibri"/>
              </a:rPr>
              <a:t>Java · Spring Boot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624328"/>
            <a:ext cx="23317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A79"/>
                </a:solidFill>
                <a:latin typeface="Calibri"/>
              </a:rPr>
              <a:t>PostgreSQL 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05088" y="267919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0C8F63"/>
                </a:solidFill>
                <a:latin typeface="Calibri"/>
              </a:rPr>
              <a:t>✓ Funcionando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3008376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C6A79"/>
                </a:solidFill>
                <a:latin typeface="Calibri"/>
              </a:rPr>
              <a:t>CRUD + modelo E/R + seed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410712"/>
            <a:ext cx="1110996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3410712"/>
            <a:ext cx="30632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12E"/>
                </a:solidFill>
                <a:latin typeface="Calibri"/>
              </a:rPr>
              <a:t>MS3 · Infraestructura / Incidencias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3410712"/>
            <a:ext cx="2148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A79"/>
                </a:solidFill>
                <a:latin typeface="Calibri"/>
              </a:rPr>
              <a:t>Node.js · Express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3410712"/>
            <a:ext cx="23317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A79"/>
                </a:solidFill>
                <a:latin typeface="Calibri"/>
              </a:rPr>
              <a:t>MongoDB 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05088" y="34655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B45309"/>
                </a:solidFill>
                <a:latin typeface="Calibri"/>
              </a:rPr>
              <a:t>▶ En curso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05088" y="3794760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C6A79"/>
                </a:solidFill>
                <a:latin typeface="Calibri"/>
              </a:rPr>
              <a:t>Endpoints de incidencias y recursos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197096"/>
            <a:ext cx="1110996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4197096"/>
            <a:ext cx="30632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12E"/>
                </a:solidFill>
                <a:latin typeface="Calibri"/>
              </a:rPr>
              <a:t>MS4 · Manifiesto (sin BD)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4197096"/>
            <a:ext cx="2148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A79"/>
                </a:solidFill>
                <a:latin typeface="Calibri"/>
              </a:rPr>
              <a:t>Python · FastAPI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4197096"/>
            <a:ext cx="23317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A79"/>
                </a:solidFill>
                <a:latin typeface="Calibri"/>
              </a:rPr>
              <a:t>— agrega MS1+MS2+MS3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05088" y="42519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0C8F63"/>
                </a:solidFill>
                <a:latin typeface="Calibri"/>
              </a:rPr>
              <a:t>✓ Funcionando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4581144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C6A79"/>
                </a:solidFill>
                <a:latin typeface="Calibri"/>
              </a:rPr>
              <a:t>Manifiesto consolidado vía asyncio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983480"/>
            <a:ext cx="11109960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" y="4983480"/>
            <a:ext cx="30632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6212E"/>
                </a:solidFill>
                <a:latin typeface="Calibri"/>
              </a:rPr>
              <a:t>MS5 · Analítica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4983480"/>
            <a:ext cx="2148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A79"/>
                </a:solidFill>
                <a:latin typeface="Calibri"/>
              </a:rPr>
              <a:t>Python · FastAPI + boto3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0488" y="4983480"/>
            <a:ext cx="23317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C6A79"/>
                </a:solidFill>
                <a:latin typeface="Calibri"/>
              </a:rPr>
              <a:t>— consulta Athena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05088" y="503834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B45309"/>
                </a:solidFill>
                <a:latin typeface="Calibri"/>
              </a:rPr>
              <a:t>▶ En curso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05088" y="5367528"/>
            <a:ext cx="2798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5C6A79"/>
                </a:solidFill>
                <a:latin typeface="Calibri"/>
              </a:rPr>
              <a:t>Scaffold listo, integra en Hito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3093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C8F63"/>
                </a:solidFill>
                <a:latin typeface="Calibri"/>
              </a:rPr>
              <a:t>Infra ya validada en el Learner Lab: VPC · 4 EC2 · ALB interno · API Gateway + VPC Link end-to-end.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30D"/>
                </a:solidFill>
                <a:latin typeface="Calibri"/>
              </a:rPr>
              <a:t>FRONTEND &amp;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32F3E"/>
                </a:solidFill>
                <a:latin typeface="Calibri"/>
              </a:rPr>
              <a:t>Consumo real de microservicios y primera ingesta a 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6A79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32F3E"/>
                </a:solidFill>
                <a:latin typeface="Calibri"/>
              </a:rPr>
              <a:t>Frontend — React + Vite (Amplify)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wrap="square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Requisito de Hito 1: página inicial que consume ≥1 microservicio con ≥2 métodos REST.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50" b="0" i="0">
                <a:solidFill>
                  <a:srgbClr val="16212E"/>
                </a:solidFill>
                <a:latin typeface="Calibri"/>
              </a:rPr>
              <a:t>Integración real con MS2 (vuelos y operaciones) ya funcionando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50" b="0" i="0">
                <a:solidFill>
                  <a:srgbClr val="16212E"/>
                </a:solidFill>
                <a:latin typeface="Calibri"/>
              </a:rPr>
              <a:t>Proxy configurable por servicio para desarrollo local (mocks ↔ real)</a:t>
            </a:r>
          </a:p>
          <a:p>
            <a:pPr algn="l">
              <a:spcAft>
                <a:spcPts val="1000"/>
              </a:spcAft>
              <a:buFont typeface="Calibri"/>
              <a:buChar char="—"/>
            </a:pPr>
            <a:r>
              <a:rPr sz="1250" b="0" i="0">
                <a:solidFill>
                  <a:srgbClr val="16212E"/>
                </a:solidFill>
                <a:latin typeface="Calibri"/>
              </a:rPr>
              <a:t>Vista de manejo de errores por dependencia caída ya aislada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39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0C8F63"/>
                </a:solidFill>
                <a:latin typeface="Calibri"/>
              </a:rPr>
              <a:t>✓ Requisito H1 cumplido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32F3E"/>
                </a:solidFill>
                <a:latin typeface="Calibri"/>
              </a:rPr>
              <a:t>Data Science — Ingesta y analítica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wrap="square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Requisito de Hito 1: VM de ingesta + bucket S3 + ≥1 contenedor cargando datos.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50" b="0" i="0">
                <a:solidFill>
                  <a:srgbClr val="16212E"/>
                </a:solidFill>
                <a:latin typeface="Calibri"/>
              </a:rPr>
              <a:t>Bucket S3 creado con prefijos raw/ms1, raw/ms2, raw/ms3</a:t>
            </a:r>
          </a:p>
          <a:p>
            <a:pPr algn="l">
              <a:spcAft>
                <a:spcPts val="800"/>
              </a:spcAft>
              <a:buFont typeface="Calibri"/>
              <a:buChar char="—"/>
            </a:pPr>
            <a:r>
              <a:rPr sz="1250" b="0" i="0">
                <a:solidFill>
                  <a:srgbClr val="16212E"/>
                </a:solidFill>
                <a:latin typeface="Calibri"/>
              </a:rPr>
              <a:t>Contenedor ingesta-ms1 (MySQL → CSV → S3) corrido con datos reales</a:t>
            </a:r>
          </a:p>
          <a:p>
            <a:pPr algn="l">
              <a:spcAft>
                <a:spcPts val="1000"/>
              </a:spcAft>
              <a:buFont typeface="Calibri"/>
              <a:buChar char="—"/>
            </a:pPr>
            <a:r>
              <a:rPr sz="1250" b="0" i="0">
                <a:solidFill>
                  <a:srgbClr val="16212E"/>
                </a:solidFill>
                <a:latin typeface="Calibri"/>
              </a:rPr>
              <a:t>ingesta-ms2 e ingesta-ms3 en curso — esperando carga completa de sus BD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120639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0C8F63"/>
                </a:solidFill>
                <a:latin typeface="Calibri"/>
              </a:rPr>
              <a:t>✓ Requisito H1 cumplido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30D"/>
                </a:solidFill>
                <a:latin typeface="Calibri"/>
              </a:rPr>
              <a:t>CHECKLIST HITO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32F3E"/>
                </a:solidFill>
                <a:latin typeface="Calibri"/>
              </a:rPr>
              <a:t>Avance ≥ 50% por parte — criterio del enunciado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6A79"/>
                </a:solidFill>
                <a:latin typeface="Calibri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  <a:latin typeface="Calibri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463040"/>
            <a:ext cx="6675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MS1 + MS2 + MS3 con CRUD mínimo funcionando; MS4 arma un manifiesto real agregando los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171907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0C8F63"/>
                </a:solidFill>
                <a:latin typeface="Calibri"/>
              </a:rPr>
              <a:t>✓ Cumplido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05456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395728"/>
            <a:ext cx="6675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Página en Amplify (deploy en curso) consumiendo MS2 con varios métodos 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265176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B45309"/>
                </a:solidFill>
                <a:latin typeface="Calibri"/>
              </a:rPr>
              <a:t>▶ En curso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38144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  <a:latin typeface="Calibri"/>
              </a:rPr>
              <a:t>Data Science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328416"/>
            <a:ext cx="6675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VM de ingesta + bucket S3 + contenedor ingesta-ms1 funcionando con datos en S3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21240" y="3584448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0C8F63"/>
                </a:solidFill>
                <a:latin typeface="Calibri"/>
              </a:rPr>
              <a:t>✓ Cumplido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61104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70832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  <a:latin typeface="Calibri"/>
              </a:rPr>
              <a:t>Infraestructura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261104"/>
            <a:ext cx="6675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VPC, 4 EC2, ALB interno y API Gateway + VPC Link validados de punta a punta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4517136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DD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0C8F63"/>
                </a:solidFill>
                <a:latin typeface="Calibri"/>
              </a:rPr>
              <a:t>✓ Cumplido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93792"/>
            <a:ext cx="111556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32F3E"/>
                </a:solidFill>
                <a:latin typeface="Calibri"/>
              </a:rPr>
              <a:t>Material de exposición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5193792"/>
            <a:ext cx="667512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Diagrama de arquitectura, slides de avance y guion de demo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5449824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B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 wrap="square"/>
          <a:lstStyle/>
          <a:p>
            <a:pPr algn="ctr"/>
            <a:r>
              <a:rPr sz="1150" b="1" i="0">
                <a:solidFill>
                  <a:srgbClr val="B45309"/>
                </a:solidFill>
                <a:latin typeface="Calibri"/>
              </a:rPr>
              <a:t>▶ En curso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D9730D"/>
                </a:solidFill>
                <a:latin typeface="Calibri"/>
              </a:rPr>
              <a:t>RUMBO AL HITO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32F3E"/>
                </a:solidFill>
                <a:latin typeface="Calibri"/>
              </a:rPr>
              <a:t>Próximos pasos (17 pts restantes)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6A79"/>
                </a:solidFill>
                <a:latin typeface="Calibri"/>
              </a:rP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115568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6276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54480"/>
            <a:ext cx="2103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32F3E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463040"/>
            <a:ext cx="7863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Cerrar swagger-aggregator, healthchecks y logs a CloudWatch; carga ≥20k en MS2/MS3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59152"/>
            <a:ext cx="1115568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" y="25237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50592"/>
            <a:ext cx="2103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32F3E"/>
                </a:solidFill>
                <a:latin typeface="Calibri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59152"/>
            <a:ext cx="7863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Sumar MS1, MS3, MS4 y MS5 (dashboard de crisis) — 4 vistas completas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55264"/>
            <a:ext cx="1115568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34198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46704"/>
            <a:ext cx="2103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32F3E"/>
                </a:solidFill>
                <a:latin typeface="Calibri"/>
              </a:rPr>
              <a:t>Data Science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55264"/>
            <a:ext cx="7863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ingesta-ms2/ms3 completos, catálogo Glue, ≥4 consultas Athena + 2 vistas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51376"/>
            <a:ext cx="1115568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" y="43159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42816"/>
            <a:ext cx="2103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32F3E"/>
                </a:solidFill>
                <a:latin typeface="Calibri"/>
              </a:rPr>
              <a:t>Arquitectura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151376"/>
            <a:ext cx="7863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Diagrama final `.drawio` con nombres reales de recursos e IDs de Security Group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47488"/>
            <a:ext cx="11155680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7512" y="5212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38928"/>
            <a:ext cx="2103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32F3E"/>
                </a:solidFill>
                <a:latin typeface="Calibri"/>
              </a:rPr>
              <a:t>Entrega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047488"/>
            <a:ext cx="78638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6212E"/>
                </a:solidFill>
                <a:latin typeface="Calibri"/>
              </a:rPr>
              <a:t>Informe LaTeX, PPT resumen de Hito 2, `INDEX.md` y demo en vivo ensayada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Gracias —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7D2DE"/>
                </a:solidFill>
                <a:latin typeface="Calibri"/>
              </a:rPr>
              <a:t>github.com/Cloud-MLA · Grupo — CS2032 Cloud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