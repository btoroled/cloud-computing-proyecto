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Sistema distribuido de gestión</a:t>
            </a:r>
          </a:p>
          <a:p>
            <a:pPr>
              <a:defRPr sz="2600">
                <a:solidFill>
                  <a:srgbClr val="C97A12"/>
                </a:solidFill>
              </a:defRPr>
            </a:pPr>
            <a:r>
              <a:t>Aeropuerto Internacional Jorge Chávez</a:t>
            </a:r>
          </a:p>
          <a:p>
            <a:pPr>
              <a:defRPr sz="1600">
                <a:solidFill>
                  <a:srgbClr val="CCCCDD"/>
                </a:solidFill>
              </a:defRPr>
            </a:pPr>
            <a:r>
              <a:t>Hito 2 — CS2032 Cloud Computing · Ciclo 2026-2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AACC"/>
                </a:solidFill>
              </a:defRPr>
            </a:pPr>
            <a:r>
              <a:t>Equipo Cloud-MLA — Benja (Líder/Arquitecto) · Guillermo · Mariano · Edinson · Fabricio · Alexander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• Introducción y objetivos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• Arquitectura de la solución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• Backend — 5 microservicios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• Transformaciones del modelo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• Frontend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• Data Science — ingesta, Glue, Athena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• Despliegue y seguridad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• Repositorios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• Conclusiones y demo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CS2032 Cloud Computing · Aeropuerto Internacional Jorge Chávez · Hito 2 —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Introducción y objetivos</a:t>
            </a:r>
          </a:p>
          <a:p>
            <a:pPr>
              <a:defRPr sz="1500">
                <a:solidFill>
                  <a:srgbClr val="C97A12"/>
                </a:solidFill>
              </a:defRPr>
            </a:pPr>
            <a:r>
              <a:t>Responsable: Benjamín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Modelo de datos del Aeropuerto Jorge Chávez (Base de Datos I), descompuesto en 5 microservicios sobre AWS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MS1 Pasajeros/Tickets (Python+MySQL) · MS2 Vuelos (Java+PostgreSQL) · MS3 Infraestructura (Node+MongoDB)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MS4 Manifiesto de vuelo, sin BD propia (agrega MS1+MS2+MS3) · MS5 Analítico sobre Amazon Athena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Frontend SPA consumiendo los 5 servicios + pipeline de Data Science (ingesta → Glue → Athena)</a:t>
            </a:r>
          </a:p>
          <a:p>
            <a:pPr lvl="1">
              <a:spcAft>
                <a:spcPts val="400"/>
              </a:spcAft>
              <a:defRPr sz="1600">
                <a:solidFill>
                  <a:srgbClr val="555555"/>
                </a:solidFill>
              </a:defRPr>
            </a:pPr>
            <a:r>
              <a:t>   – Objetivo: demostrar cada requisito con evidencia real (curl, COUNT(*), logs), no solo en el papel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CS2032 Cloud Computing · Aeropuerto Internacional Jorge Chávez · Hito 2 —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Arquitectura de la solución</a:t>
            </a:r>
          </a:p>
          <a:p>
            <a:pPr>
              <a:defRPr sz="1500">
                <a:solidFill>
                  <a:srgbClr val="C97A12"/>
                </a:solidFill>
              </a:defRPr>
            </a:pPr>
            <a:r>
              <a:t>Responsable: Benjamín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VPC aeropuerto (10.0.0.0/16), 2 subredes públicas + 2 privadas, 2 AZ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Única entrada pública: Amazon API Gateway (HTTPS) → VPC Link → ALB interno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2 VM-PROD idénticas (nginx + MS1..MS5) detrás del ALB; VM-DB (MySQL+PostgreSQL+MongoDB) sin IP pública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VM-INGESTA copia los datos operacionales al data lake en S3; NAT Gateway como única salida de las subredes privadas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Registro de imágenes: Docker Hub (migrado de GHCR el 22-Set por problemas de visibilidad privada)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CS2032 Cloud Computing · Aeropuerto Internacional Jorge Chávez · Hito 2 —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Diagrama de arquitectura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quitectura-solucion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6294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CS2032 Cloud Computing · Aeropuerto Internacional Jorge Chávez · Hito 2 —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Decisiones de infraestructura</a:t>
            </a:r>
          </a:p>
          <a:p>
            <a:pPr>
              <a:defRPr sz="1500">
                <a:solidFill>
                  <a:srgbClr val="C97A12"/>
                </a:solidFill>
              </a:defRPr>
            </a:pPr>
            <a:r>
              <a:t>Responsable: Benjamín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sg-vm-prod solo acepta tráfico de sg-alb — sin puertos abiertos a 0.0.0.0/0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sg-vm-db solo acepta desde sg-vm-prod y sg-vm-ingesta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Bucket S3 gestionado por CLI, no por Terraform — una SCP de organización del Learner Lab bloqueaba el provider al leer Object Lock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Terraform 100% reproducible: el despliegue final corre en una cuenta distinta a la original, sin rediseñar nada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CS2032 Cloud Computing · Aeropuerto Internacional Jorge Chávez · Hito 2 —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Backend — 5 microservicios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MS1 Pasajeros/Tickets — Python + FastAPI + MySQL 8 (Guillermo)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MS2 Vuelos/Operaciones — Java + Spring Boot + PostgreSQL 16 (Mariano)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MS3 Infraestructura/Incidencias — Node + Express + MongoDB 7 (Edinson)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MS4 Manifiesto de vuelo, sin BD — Python + FastAPI (Fabricio)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MS5 Analítico — Python + FastAPI + boto3 + Amazon Athena (Fabricio)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3 lenguajes, 3 motores de BD distintos — cumplido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CS2032 Cloud Computing · Aeropuerto Internacional Jorge Chávez · Hito 2 —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Consumo real entre microservicios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MS1 → MS2: POST /tickets valida el vuelo con GET /vuelos/{id}/exists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MS3 → MS2: POST /incidencias valida el vuelo antes de crear la incidencia</a:t>
            </a:r>
          </a:p>
          <a:p>
            <a:pPr lvl="1">
              <a:spcAft>
                <a:spcPts val="400"/>
              </a:spcAft>
              <a:defRPr sz="1600">
                <a:solidFill>
                  <a:srgbClr val="555555"/>
                </a:solidFill>
              </a:defRPr>
            </a:pPr>
            <a:r>
              <a:t>   – Verificado 22-Set: log real "[MS3-&gt;MS2] GET http://ms2:8002/api/vuelos/999999/exists" → 502 DEPENDENCIA_ERROR (contrato propio)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MS4 → MS1/MS2/MS3: GET /manifiesto/{vuelo_id} agrega y consolida la respuesta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Contrato de error común (docs/contratos/errores.md) en las 5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CS2032 Cloud Computing · Aeropuerto Internacional Jorge Chávez · Hito 2 —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Carga masiva — evidencia COUNT(*)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MySQL (MS1) — ticket: 25 000 filas (184 394 filas totales cargadas)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PostgreSQL (MS2) — vuelo: 20 500 filas (21 000 asientos)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MongoDB (MS3) — incidencias: 25 000 documentos (500 recursos, 40 000 asignaciones)</a:t>
            </a:r>
          </a:p>
          <a:p>
            <a:pPr lvl="1">
              <a:spcAft>
                <a:spcPts val="400"/>
              </a:spcAft>
              <a:defRPr sz="1600">
                <a:solidFill>
                  <a:srgbClr val="555555"/>
                </a:solidFill>
              </a:defRPr>
            </a:pPr>
            <a:r>
              <a:t>   – Las 3 BD verificadas con COUNT(*)/countDocuments() independiente, 23-Set-2026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CS2032 Cloud Computing · Aeropuerto Internacional Jorge Chávez · Hito 2 —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Transformaciones del modelo</a:t>
            </a:r>
          </a:p>
          <a:p>
            <a:pPr>
              <a:defRPr sz="1500">
                <a:solidFill>
                  <a:srgbClr val="C97A12"/>
                </a:solidFill>
              </a:defRPr>
            </a:pPr>
            <a:r>
              <a:t>Responsable: Fabricio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Modelo monolítico de Base de Datos I repartido en 3 fuentes operacionales independientes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Persona partida: identidad base + extensión por rol (pasajero, empleado) según el microservicio dueño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Referencias entre servicios pasan de FK reales a "referencias suaves" validadas por HTTP (no por el motor de BD)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Detalle completo en informe/latex/secciones/04-transformaciones.tex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CS2032 Cloud Computing · Aeropuerto Internacional Jorge Chávez · Hito 2 —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Frontend</a:t>
            </a:r>
          </a:p>
          <a:p>
            <a:pPr>
              <a:defRPr sz="1500">
                <a:solidFill>
                  <a:srgbClr val="C97A12"/>
                </a:solidFill>
              </a:defRPr>
            </a:pPr>
            <a:r>
              <a:t>Responsable: Alexander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SPA en React + Vite + TypeScript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4 vistas: consulta de vuelo/manifiesto · emisión de ticket/check-in · recursos e incidencias · dashboard analítico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Matriz de cobertura REST: los 5 microservicios, ≥2 métodos por servicio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Despliegue: Amplify (bloqueado hoy por política de la cuenta AWS — pendiente confirmar desde consola web o activar contingencia S3+CloudFront)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CS2032 Cloud Computing · Aeropuerto Internacional Jorge Chávez · Hito 2 —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Data Science — ingesta</a:t>
            </a:r>
          </a:p>
          <a:p>
            <a:pPr>
              <a:defRPr sz="1500">
                <a:solidFill>
                  <a:srgbClr val="C97A12"/>
                </a:solidFill>
              </a:defRPr>
            </a:pPr>
            <a:r>
              <a:t>Responsable: Fabricio + equipo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3 contenedores de ingesta: ingesta-ms1 (Guillermo), ingesta-ms2 (Mariano), ingesta-ms3 (aplanado de Fabricio, conectado hoy)</a:t>
            </a:r>
          </a:p>
          <a:p>
            <a:pPr lvl="1">
              <a:spcAft>
                <a:spcPts val="400"/>
              </a:spcAft>
              <a:defRPr sz="1600">
                <a:solidFill>
                  <a:srgbClr val="555555"/>
                </a:solidFill>
              </a:defRPr>
            </a:pPr>
            <a:r>
              <a:t>   – Los 3 desplegados y corridos de verdad en VM-INGESTA contra la VM-DB real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raw/ms1/, raw/ms2/ y raw/ms3/ en S3 con datos reales de las 3 fuentes — pull 100%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ingesta-ms3 aplana incidencias.afecta_recursos[]/retrasa_vuelos[] a 2 tablas relacionales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CS2032 Cloud Computing · Aeropuerto Internacional Jorge Chávez · Hito 2 —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Data Science — catálogo y consultas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Catálogo Glue aeropuerto_lake: 1 crawler por prefijo, 19 tablas catalogadas (las 3 fuentes completas)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5 de 5 consultas de negocio (Q1–Q5) con JOIN + 2 de 2 vistas — todas corriendo con datos reales</a:t>
            </a:r>
          </a:p>
          <a:p>
            <a:pPr lvl="1">
              <a:spcAft>
                <a:spcPts val="400"/>
              </a:spcAft>
              <a:defRPr sz="1600">
                <a:solidFill>
                  <a:srgbClr val="555555"/>
                </a:solidFill>
              </a:defRPr>
            </a:pPr>
            <a:r>
              <a:t>   – Bug encontrado y arreglado: timestamps ISO8601 mal inferidos por el crawler (DS-10) + comas sin escapar rompiendo columnas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E/R del catálogo: 19 tablas de 3 fuentes (borrador de Fabricio, revisión cruzada DA-04 pendiente)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CS2032 Cloud Computing · Aeropuerto Internacional Jorge Chávez · Hito 2 —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Despliegue y seguridad</a:t>
            </a:r>
          </a:p>
          <a:p>
            <a:pPr>
              <a:defRPr sz="1500">
                <a:solidFill>
                  <a:srgbClr val="C97A12"/>
                </a:solidFill>
              </a:defRPr>
            </a:pPr>
            <a:r>
              <a:t>Responsable: Benjamín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2 VM-PROD con docker compose (nginx + 5 MS) detrás de un ALB interno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6 contenedores por VM en estado healthy (healthcheck activo, no solo "corriendo")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Backups formalizados: scripts/backup-db.sh — probado con datos reales (MySQL 3.6MB, Postgres 14KB, Mongo 2KB)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Smoke test automatizado (scripts/smoke-e2e.sh): público responde, privado bloqueado — en verde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CS2032 Cloud Computing · Aeropuerto Internacional Jorge Chávez · Hito 2 —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Evidencia de privacidad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curl a la URL pública de API Gateway → 200 OK, desde fuera de la VPC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Acceso directo a las IP públicas de VM-PROD → timeout (sg-vm-prod cerrado)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nc al DNS del ALB interno desde fuera → connection refused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VM-DB y VM-INGESTA: sin IP pública en ningún momento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CS2032 Cloud Computing · Aeropuerto Internacional Jorge Chávez · Hito 2 —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Repositorios</a:t>
            </a:r>
          </a:p>
          <a:p>
            <a:pPr>
              <a:defRPr sz="1500">
                <a:solidFill>
                  <a:srgbClr val="C97A12"/>
                </a:solidFill>
              </a:defRPr>
            </a:pPr>
            <a:r>
              <a:t>Responsable: Benjamín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9 repos públicos en GitHub, verificados con la API (sin login)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cloud-computing-proyecto (docs) · ms1..ms5 · aeropuerto-frontend · aeropuerto-data-science · aeropuerto-infra-deploy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INDEX.md con las 9 URLs — ver también docs/plan/personas/ para el detalle de avance por 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CS2032 Cloud Computing · Aeropuerto Internacional Jorge Chávez · Hito 2 —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Conclusiones y estado actual</a:t>
            </a:r>
          </a:p>
          <a:p>
            <a:pPr>
              <a:defRPr sz="1500">
                <a:solidFill>
                  <a:srgbClr val="C97A12"/>
                </a:solidFill>
              </a:defRPr>
            </a:pPr>
            <a:r>
              <a:t>Responsable: Benjamín y equipo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Completo con evidencia real: infra desplegada, API Gateway público, 3 BD con carga masiva ≥20k, 3 contenedores de ingesta, MS3→MS2 verificado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Pipeline de datos completo: MySQL/PostgreSQL/MongoDB → S3 → Glue (19 tablas) → Athena (5 queries + 2 vistas, todo con datos reales)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Contingencias aplicadas: Docker Hub en vez de GHCR · bucket S3 gestionado por CLI · despliegue en cuenta AWS de respaldo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Pendiente: confirmación de Amplify o contingencia S3+CloudFront · consolidación final del informe (secciones de cada quien) · ensayo de demo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Entrega: Hito 2 aplazado a Mar 23-Set 23:59 · exposición presencial y demo en vivo: Semana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CS2032 Cloud Computing · Aeropuerto Internacional Jorge Chávez · Hito 2 —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Demo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C9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• URL pública: API Gateway de producción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• Guion completo en informe/guion-demo.md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• Ensayo general pendiente de agendar con todo 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CS2032 Cloud Computing · Aeropuerto Internacional Jorge Chávez · Hito 2 —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